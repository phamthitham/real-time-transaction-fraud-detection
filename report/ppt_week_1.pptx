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64" d="100"/>
          <a:sy n="64" d="100"/>
        </p:scale>
        <p:origin x="724" y="52"/>
      </p:cViewPr>
      <p:guideLst/>
    </p:cSldViewPr>
  </p:slideViewPr>
  <p:notesTextViewPr>
    <p:cViewPr>
      <p:scale>
        <a:sx n="1" d="1"/>
        <a:sy n="1" d="1"/>
      </p:scale>
      <p:origin x="0" y="0"/>
    </p:cViewPr>
  </p:notesTextViewPr>
  <p:sorterViewPr>
    <p:cViewPr>
      <p:scale>
        <a:sx n="100" d="100"/>
        <a:sy n="100" d="100"/>
      </p:scale>
      <p:origin x="0" y="-5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FEA04-0CE4-ED2F-9135-6FB72AAB395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535C735-E5EF-CF26-05A3-FDF07BF75D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123FF3-9FEE-259C-E2D5-468E786D7BB4}"/>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42400CD9-61D7-F211-BA94-46A0BCDF24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8BE728-DE89-2C30-AF7A-81E8F90C0419}"/>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10565412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65998-6EE5-8D4C-E8A9-1FB0B14F8D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83BB8A-96ED-FB91-63D7-4DA5DD7A49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194B59-1166-41FC-03E9-D59FC9472DC9}"/>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E03CD51B-978C-5139-C945-42C214F375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CD1068-ECA9-8840-0938-692E6C3950AD}"/>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2652701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C35E-77D1-D88E-B0E3-9FE2AFFA32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A921EA-67C3-7030-95D5-8DDD92114D0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356E4C-220E-93D3-9877-C1608EF57950}"/>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5D9480F0-0F6A-6206-F898-0231C4FF37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2188BA-BD44-CAF4-C658-DD2A85BE7BEF}"/>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30151676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55196-9CA0-7601-424A-852113BFB8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B88AEA-DC9D-CD45-5846-56C3A8A6BA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190F188-3FCC-7065-E0A6-A213E2A155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F83984-D5EF-F59B-4C84-D9435F25D0C9}"/>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6" name="Footer Placeholder 5">
            <a:extLst>
              <a:ext uri="{FF2B5EF4-FFF2-40B4-BE49-F238E27FC236}">
                <a16:creationId xmlns:a16="http://schemas.microsoft.com/office/drawing/2014/main" id="{F42D48AC-3042-82C5-7684-E215D6BB91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D02B49-C4B3-A7AB-C80F-19929DE4D236}"/>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821748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FA69B-E044-9E4C-B601-EE8C148979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7B87C26-2D00-8C61-B06E-8D1D26384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77527F-54AA-BA54-7737-DC4995EDFB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92BB875-D8D2-EA4E-8C6B-5EA7D4D1E8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7FFFCC-DE48-9F59-EFC1-F7A42E7CBB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F1D4B8-9288-6F0C-F232-27D841C25EBF}"/>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8" name="Footer Placeholder 7">
            <a:extLst>
              <a:ext uri="{FF2B5EF4-FFF2-40B4-BE49-F238E27FC236}">
                <a16:creationId xmlns:a16="http://schemas.microsoft.com/office/drawing/2014/main" id="{CF111DA3-13BE-50D6-C03C-F54A3B3B7C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0673B6-09F1-4602-8EC1-6384D16E50AF}"/>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19698419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1BAB2-C906-2C24-CE2B-6D7F7836B3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5298F6C-62FD-AA47-286C-C3C7F9B40807}"/>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4" name="Footer Placeholder 3">
            <a:extLst>
              <a:ext uri="{FF2B5EF4-FFF2-40B4-BE49-F238E27FC236}">
                <a16:creationId xmlns:a16="http://schemas.microsoft.com/office/drawing/2014/main" id="{6B4D5D12-9AF9-9331-5BD2-5F5A2D09F6A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758036-6DEF-7317-CE9E-48C67B14794E}"/>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3648988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ECE400-EDF9-2B61-37AC-8BB4988E7FA2}"/>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3" name="Footer Placeholder 2">
            <a:extLst>
              <a:ext uri="{FF2B5EF4-FFF2-40B4-BE49-F238E27FC236}">
                <a16:creationId xmlns:a16="http://schemas.microsoft.com/office/drawing/2014/main" id="{8CBA4170-31A5-7CFA-CEC3-39872EDCC7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6FB412-1AB3-A799-F18C-B207A72461D8}"/>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1419568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34210-535A-036E-ABAB-093E6CEDA0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C26087-761E-5059-296D-8CE4FB7FFE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FB4260-CDF5-13C7-08DE-DEE1336B77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CFBB4F-DD5E-17A4-94FF-30E5FCA65339}"/>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6" name="Footer Placeholder 5">
            <a:extLst>
              <a:ext uri="{FF2B5EF4-FFF2-40B4-BE49-F238E27FC236}">
                <a16:creationId xmlns:a16="http://schemas.microsoft.com/office/drawing/2014/main" id="{CBB9107F-F659-3032-4322-2056A9E810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B7E30E-2636-72DB-9506-3DBEB4DBD559}"/>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72246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A3C82-3320-1ADB-2C60-6C43325BCF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08AE4A-F23E-9B83-8C4F-64A4FA1A8F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8B43D3-E834-D661-7871-3E5D5555DF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72E16B-8ABC-EAFA-5BA0-3B566314337F}"/>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6" name="Footer Placeholder 5">
            <a:extLst>
              <a:ext uri="{FF2B5EF4-FFF2-40B4-BE49-F238E27FC236}">
                <a16:creationId xmlns:a16="http://schemas.microsoft.com/office/drawing/2014/main" id="{1E695B2E-3BAD-C034-590A-A72ECA0AD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878E61-2423-09D2-030B-DDFEA2DC957E}"/>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2997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87F6E-D47C-D0CB-B418-2375858CE2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8E16AB-66FB-A9A4-343D-ECB8DE927B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FAEB8-D6D0-F655-BB84-EE7A50180C34}"/>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DC2B9CD6-D79C-BD55-31DB-C6BE6239EF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FB112E-2DCE-2000-35AD-2B3ECCA87B32}"/>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67987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88A204-498C-5512-A766-7F709A901F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1539F3-6575-E57E-A409-FC9689B6E9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26D7E0-992B-5C56-E628-E6441D585B20}"/>
              </a:ext>
            </a:extLst>
          </p:cNvPr>
          <p:cNvSpPr>
            <a:spLocks noGrp="1"/>
          </p:cNvSpPr>
          <p:nvPr>
            <p:ph type="dt" sz="half" idx="10"/>
          </p:nvPr>
        </p:nvSpPr>
        <p:spPr/>
        <p:txBody>
          <a:body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7021E207-7904-5F46-DBA4-C1C0677773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B98CA2-02B7-22C4-B504-91B7EDA88300}"/>
              </a:ext>
            </a:extLst>
          </p:cNvPr>
          <p:cNvSpPr>
            <a:spLocks noGrp="1"/>
          </p:cNvSpPr>
          <p:nvPr>
            <p:ph type="sldNum" sz="quarter" idx="12"/>
          </p:nvPr>
        </p:nvSpPr>
        <p:spPr/>
        <p:txBody>
          <a:bodyPr/>
          <a:lstStyle/>
          <a:p>
            <a:fld id="{F3EB51C4-B68F-4397-AD1B-2C084684A855}" type="slidenum">
              <a:rPr lang="en-US" smtClean="0"/>
              <a:t>‹#›</a:t>
            </a:fld>
            <a:endParaRPr lang="en-US"/>
          </a:p>
        </p:txBody>
      </p:sp>
    </p:spTree>
    <p:extLst>
      <p:ext uri="{BB962C8B-B14F-4D97-AF65-F5344CB8AC3E}">
        <p14:creationId xmlns:p14="http://schemas.microsoft.com/office/powerpoint/2010/main" val="3995504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6DF065-4EF0-409F-89E6-8FA24AF6D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AE45A6-90F6-3F07-6D47-13B507ACDF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328339-13FB-0C4C-17AD-9FED208B27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EC1080-4FB8-4B31-B8B0-914CA4F48F80}" type="datetimeFigureOut">
              <a:rPr lang="en-US" smtClean="0"/>
              <a:t>7/21/2026</a:t>
            </a:fld>
            <a:endParaRPr lang="en-US"/>
          </a:p>
        </p:txBody>
      </p:sp>
      <p:sp>
        <p:nvSpPr>
          <p:cNvPr id="5" name="Footer Placeholder 4">
            <a:extLst>
              <a:ext uri="{FF2B5EF4-FFF2-40B4-BE49-F238E27FC236}">
                <a16:creationId xmlns:a16="http://schemas.microsoft.com/office/drawing/2014/main" id="{940A92B8-4410-BA65-6200-F49002F3A2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C1EAD5-64AF-7F85-BA42-FE9D48FBD5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3EB51C4-B68F-4397-AD1B-2C084684A855}" type="slidenum">
              <a:rPr lang="en-US" smtClean="0"/>
              <a:t>‹#›</a:t>
            </a:fld>
            <a:endParaRPr lang="en-US"/>
          </a:p>
        </p:txBody>
      </p:sp>
    </p:spTree>
    <p:extLst>
      <p:ext uri="{BB962C8B-B14F-4D97-AF65-F5344CB8AC3E}">
        <p14:creationId xmlns:p14="http://schemas.microsoft.com/office/powerpoint/2010/main" val="3661078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7766EE-4192-4B2D-A5A0-F60F9A5F7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row of paper houses&#10;&#10;AI-generated content may be incorrect.">
            <a:extLst>
              <a:ext uri="{FF2B5EF4-FFF2-40B4-BE49-F238E27FC236}">
                <a16:creationId xmlns:a16="http://schemas.microsoft.com/office/drawing/2014/main" id="{5502D49A-4EEC-2A21-C8A2-62ADAB456754}"/>
              </a:ext>
            </a:extLst>
          </p:cNvPr>
          <p:cNvPicPr>
            <a:picLocks noChangeAspect="1"/>
          </p:cNvPicPr>
          <p:nvPr/>
        </p:nvPicPr>
        <p:blipFill>
          <a:blip r:embed="rId2"/>
          <a:srcRect b="2598"/>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 name="Title 1">
            <a:extLst>
              <a:ext uri="{FF2B5EF4-FFF2-40B4-BE49-F238E27FC236}">
                <a16:creationId xmlns:a16="http://schemas.microsoft.com/office/drawing/2014/main" id="{3E690B28-C065-4049-F5F4-D4DB7FBF7A02}"/>
              </a:ext>
            </a:extLst>
          </p:cNvPr>
          <p:cNvSpPr>
            <a:spLocks noGrp="1"/>
          </p:cNvSpPr>
          <p:nvPr>
            <p:ph type="ctrTitle"/>
          </p:nvPr>
        </p:nvSpPr>
        <p:spPr>
          <a:xfrm>
            <a:off x="3211281" y="1823223"/>
            <a:ext cx="5986130" cy="2424098"/>
          </a:xfrm>
        </p:spPr>
        <p:txBody>
          <a:bodyPr>
            <a:normAutofit/>
          </a:bodyPr>
          <a:lstStyle/>
          <a:p>
            <a:r>
              <a:rPr lang="en-US" sz="3200" b="1" dirty="0" err="1">
                <a:latin typeface="Times New Roman" panose="02020603050405020304" pitchFamily="18" charset="0"/>
                <a:cs typeface="Times New Roman" panose="02020603050405020304" pitchFamily="18" charset="0"/>
              </a:rPr>
              <a:t>Tên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dự</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án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lận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trong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dịch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theo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thời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b="1" dirty="0" err="1">
                <a:latin typeface="Times New Roman" panose="02020603050405020304" pitchFamily="18" charset="0"/>
                <a:cs typeface="Times New Roman" panose="02020603050405020304" pitchFamily="18" charset="0"/>
              </a:rPr>
              <a:t>Mục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tiêu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xây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luồng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phát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dịch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lận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dưới</a:t>
            </a:r>
            <a:r>
              <a:rPr lang="en-US" sz="3200" dirty="0">
                <a:latin typeface="Times New Roman" panose="02020603050405020304" pitchFamily="18" charset="0"/>
                <a:cs typeface="Times New Roman" panose="02020603050405020304" pitchFamily="18" charset="0"/>
              </a:rPr>
              <a:t> 1 </a:t>
            </a:r>
            <a:r>
              <a:rPr lang="en-US" sz="3200" dirty="0" err="1">
                <a:latin typeface="Times New Roman" panose="02020603050405020304" pitchFamily="18" charset="0"/>
                <a:cs typeface="Times New Roman" panose="02020603050405020304" pitchFamily="18" charset="0"/>
              </a:rPr>
              <a:t>giây</a:t>
            </a:r>
            <a:r>
              <a:rPr lang="en-US" sz="3200" dirty="0">
                <a:latin typeface="Times New Roman" panose="02020603050405020304" pitchFamily="18" charset="0"/>
                <a:cs typeface="Times New Roman" panose="02020603050405020304" pitchFamily="18" charset="0"/>
              </a:rPr>
              <a:t>.</a:t>
            </a:r>
          </a:p>
        </p:txBody>
      </p:sp>
      <p:sp>
        <p:nvSpPr>
          <p:cNvPr id="3" name="Subtitle 2">
            <a:extLst>
              <a:ext uri="{FF2B5EF4-FFF2-40B4-BE49-F238E27FC236}">
                <a16:creationId xmlns:a16="http://schemas.microsoft.com/office/drawing/2014/main" id="{8410D4A6-93E1-7E32-DF10-6A539ADB39EB}"/>
              </a:ext>
            </a:extLst>
          </p:cNvPr>
          <p:cNvSpPr>
            <a:spLocks noGrp="1"/>
          </p:cNvSpPr>
          <p:nvPr>
            <p:ph type="subTitle" idx="1"/>
          </p:nvPr>
        </p:nvSpPr>
        <p:spPr>
          <a:xfrm>
            <a:off x="4146233" y="4666416"/>
            <a:ext cx="4431162" cy="1337967"/>
          </a:xfrm>
        </p:spPr>
        <p:txBody>
          <a:bodyPr>
            <a:normAutofit/>
          </a:bodyPr>
          <a:lstStyle/>
          <a:p>
            <a:r>
              <a:rPr lang="en-US" b="1" dirty="0">
                <a:solidFill>
                  <a:schemeClr val="tx2">
                    <a:lumMod val="75000"/>
                    <a:lumOff val="25000"/>
                  </a:schemeClr>
                </a:solidFill>
                <a:latin typeface="Times New Roman" panose="02020603050405020304" pitchFamily="18" charset="0"/>
                <a:cs typeface="Times New Roman" panose="02020603050405020304" pitchFamily="18" charset="0"/>
              </a:rPr>
              <a:t>TÊN DỰ ÁN &amp; MỤC TIÊU</a:t>
            </a:r>
            <a:endParaRPr lang="en-US"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8397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2">
            <a:extLst>
              <a:ext uri="{FF2B5EF4-FFF2-40B4-BE49-F238E27FC236}">
                <a16:creationId xmlns:a16="http://schemas.microsoft.com/office/drawing/2014/main" id="{AD95D90C-4CCE-9225-5234-D6CF1EFE7091}"/>
              </a:ext>
            </a:extLst>
          </p:cNvPr>
          <p:cNvSpPr>
            <a:spLocks noGrp="1"/>
          </p:cNvSpPr>
          <p:nvPr>
            <p:ph type="subTitle" idx="1"/>
          </p:nvPr>
        </p:nvSpPr>
        <p:spPr>
          <a:xfrm>
            <a:off x="454951" y="72028"/>
            <a:ext cx="11282098" cy="544660"/>
          </a:xfrm>
        </p:spPr>
        <p:txBody>
          <a:bodyPr>
            <a:normAutofit/>
          </a:bodyPr>
          <a:lstStyle/>
          <a:p>
            <a:r>
              <a:rPr lang="en-US" sz="3200" b="1" dirty="0">
                <a:solidFill>
                  <a:schemeClr val="tx2">
                    <a:lumMod val="75000"/>
                    <a:lumOff val="25000"/>
                  </a:schemeClr>
                </a:solidFill>
                <a:latin typeface="Times New Roman" panose="02020603050405020304" pitchFamily="18" charset="0"/>
                <a:cs typeface="Times New Roman" panose="02020603050405020304" pitchFamily="18" charset="0"/>
              </a:rPr>
              <a:t>GIẢI PHÁP &amp; CÔNG NGHỆ</a:t>
            </a:r>
            <a:endParaRPr lang="en-US" sz="32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11" name="Subtitle 2">
            <a:extLst>
              <a:ext uri="{FF2B5EF4-FFF2-40B4-BE49-F238E27FC236}">
                <a16:creationId xmlns:a16="http://schemas.microsoft.com/office/drawing/2014/main" id="{CBEFED06-BEF0-36F2-43EE-32AD9E2E523B}"/>
              </a:ext>
            </a:extLst>
          </p:cNvPr>
          <p:cNvSpPr txBox="1">
            <a:spLocks/>
          </p:cNvSpPr>
          <p:nvPr/>
        </p:nvSpPr>
        <p:spPr>
          <a:xfrm>
            <a:off x="5603358" y="1294772"/>
            <a:ext cx="6363396" cy="556322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b="1" i="0" dirty="0">
                <a:solidFill>
                  <a:schemeClr val="accent2">
                    <a:lumMod val="75000"/>
                  </a:schemeClr>
                </a:solidFill>
                <a:effectLst/>
                <a:latin typeface="Times New Roman" panose="02020603050405020304" pitchFamily="18" charset="0"/>
                <a:cs typeface="Times New Roman" panose="02020603050405020304" pitchFamily="18" charset="0"/>
              </a:rPr>
              <a:t>Terminal</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 kiểm tra bảo mật bao gồm kiểm soát mã </a:t>
            </a:r>
            <a:r>
              <a:rPr lang="en-US" sz="1800" b="0" i="0" dirty="0">
                <a:solidFill>
                  <a:srgbClr val="000000"/>
                </a:solidFill>
                <a:effectLst/>
                <a:latin typeface="Times New Roman" panose="02020603050405020304" pitchFamily="18" charset="0"/>
                <a:cs typeface="Times New Roman" panose="02020603050405020304" pitchFamily="18" charset="0"/>
              </a:rPr>
              <a:t>pin</a:t>
            </a:r>
            <a:r>
              <a:rPr lang="vi-VN" sz="1800" b="0" i="0" dirty="0">
                <a:solidFill>
                  <a:srgbClr val="000000"/>
                </a:solidFill>
                <a:effectLst/>
                <a:latin typeface="Times New Roman" panose="02020603050405020304" pitchFamily="18" charset="0"/>
                <a:cs typeface="Times New Roman" panose="02020603050405020304" pitchFamily="18" charset="0"/>
              </a:rPr>
              <a:t>, số lần thử, trạng thái thẻ (hoạt động hoặc bị chặn), số dư khả dụng và hạn mức chi tiêu.</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l"/>
            <a:r>
              <a:rPr lang="en-US" sz="1800" b="1" dirty="0">
                <a:solidFill>
                  <a:schemeClr val="accent2">
                    <a:lumMod val="75000"/>
                  </a:schemeClr>
                </a:solidFill>
                <a:latin typeface="Times New Roman" panose="02020603050405020304" pitchFamily="18" charset="0"/>
                <a:cs typeface="Times New Roman" panose="02020603050405020304" pitchFamily="18" charset="0"/>
              </a:rPr>
              <a:t>Transaction-Blocking Rules</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vi-VN" sz="1800" b="0" i="0" dirty="0">
                <a:solidFill>
                  <a:srgbClr val="000000"/>
                </a:solidFill>
                <a:effectLst/>
                <a:latin typeface="Times New Roman" panose="02020603050405020304" pitchFamily="18" charset="0"/>
                <a:cs typeface="Times New Roman" panose="02020603050405020304" pitchFamily="18" charset="0"/>
              </a:rPr>
              <a:t>Các quy tắc chặn giao dịch được thiết kế thủ công bởi điều tra viên</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ví</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dụ</a:t>
            </a:r>
            <a:r>
              <a:rPr lang="en-US" sz="1800" b="0" i="0" dirty="0">
                <a:solidFill>
                  <a:srgbClr val="000000"/>
                </a:solidFill>
                <a:effectLst/>
                <a:latin typeface="Times New Roman" panose="02020603050405020304" pitchFamily="18" charset="0"/>
                <a:cs typeface="Times New Roman" panose="02020603050405020304" pitchFamily="18" charset="0"/>
              </a:rPr>
              <a:t>: “NẾU </a:t>
            </a:r>
            <a:r>
              <a:rPr lang="en-US" sz="1800" b="0" i="0" dirty="0" err="1">
                <a:solidFill>
                  <a:srgbClr val="000000"/>
                </a:solidFill>
                <a:effectLst/>
                <a:latin typeface="Times New Roman" panose="02020603050405020304" pitchFamily="18" charset="0"/>
                <a:cs typeface="Times New Roman" panose="02020603050405020304" pitchFamily="18" charset="0"/>
              </a:rPr>
              <a:t>giao</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dịch</a:t>
            </a:r>
            <a:r>
              <a:rPr lang="en-US" sz="1800" b="0" i="0" dirty="0">
                <a:solidFill>
                  <a:srgbClr val="000000"/>
                </a:solidFill>
                <a:effectLst/>
                <a:latin typeface="Times New Roman" panose="02020603050405020304" pitchFamily="18" charset="0"/>
                <a:cs typeface="Times New Roman" panose="02020603050405020304" pitchFamily="18" charset="0"/>
              </a:rPr>
              <a:t> internet VÀ </a:t>
            </a:r>
            <a:r>
              <a:rPr lang="en-US" sz="1800" b="0" i="0" dirty="0" err="1">
                <a:solidFill>
                  <a:srgbClr val="000000"/>
                </a:solidFill>
                <a:effectLst/>
                <a:latin typeface="Times New Roman" panose="02020603050405020304" pitchFamily="18" charset="0"/>
                <a:cs typeface="Times New Roman" panose="02020603050405020304" pitchFamily="18" charset="0"/>
              </a:rPr>
              <a:t>trang</a:t>
            </a:r>
            <a:r>
              <a:rPr lang="en-US" sz="1800" b="0" i="0" dirty="0">
                <a:solidFill>
                  <a:srgbClr val="000000"/>
                </a:solidFill>
                <a:effectLst/>
                <a:latin typeface="Times New Roman" panose="02020603050405020304" pitchFamily="18" charset="0"/>
                <a:cs typeface="Times New Roman" panose="02020603050405020304" pitchFamily="18" charset="0"/>
              </a:rPr>
              <a:t> web </a:t>
            </a:r>
            <a:r>
              <a:rPr lang="en-US" sz="1800" b="0" i="0" dirty="0" err="1">
                <a:solidFill>
                  <a:srgbClr val="000000"/>
                </a:solidFill>
                <a:effectLst/>
                <a:latin typeface="Times New Roman" panose="02020603050405020304" pitchFamily="18" charset="0"/>
                <a:cs typeface="Times New Roman" panose="02020603050405020304" pitchFamily="18" charset="0"/>
              </a:rPr>
              <a:t>không</a:t>
            </a:r>
            <a:r>
              <a:rPr lang="en-US" sz="1800" b="0" i="0" dirty="0">
                <a:solidFill>
                  <a:srgbClr val="000000"/>
                </a:solidFill>
                <a:effectLst/>
                <a:latin typeface="Times New Roman" panose="02020603050405020304" pitchFamily="18" charset="0"/>
                <a:cs typeface="Times New Roman" panose="02020603050405020304" pitchFamily="18" charset="0"/>
              </a:rPr>
              <a:t> an </a:t>
            </a:r>
            <a:r>
              <a:rPr lang="en-US" sz="1800" b="0" i="0" dirty="0" err="1">
                <a:solidFill>
                  <a:srgbClr val="000000"/>
                </a:solidFill>
                <a:effectLst/>
                <a:latin typeface="Times New Roman" panose="02020603050405020304" pitchFamily="18" charset="0"/>
                <a:cs typeface="Times New Roman" panose="02020603050405020304" pitchFamily="18" charset="0"/>
              </a:rPr>
              <a:t>toàn</a:t>
            </a:r>
            <a:r>
              <a:rPr lang="en-US" sz="1800" b="0" i="0" dirty="0">
                <a:solidFill>
                  <a:srgbClr val="000000"/>
                </a:solidFill>
                <a:effectLst/>
                <a:latin typeface="Times New Roman" panose="02020603050405020304" pitchFamily="18" charset="0"/>
                <a:cs typeface="Times New Roman" panose="02020603050405020304" pitchFamily="18" charset="0"/>
              </a:rPr>
              <a:t> THÌ </a:t>
            </a:r>
            <a:r>
              <a:rPr lang="en-US" sz="1800" b="0" i="0" dirty="0" err="1">
                <a:solidFill>
                  <a:srgbClr val="000000"/>
                </a:solidFill>
                <a:effectLst/>
                <a:latin typeface="Times New Roman" panose="02020603050405020304" pitchFamily="18" charset="0"/>
                <a:cs typeface="Times New Roman" panose="02020603050405020304" pitchFamily="18" charset="0"/>
              </a:rPr>
              <a:t>từ</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chối</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giao</a:t>
            </a:r>
            <a:r>
              <a:rPr lang="en-US" sz="1800" b="0" i="0" dirty="0">
                <a:solidFill>
                  <a:srgbClr val="000000"/>
                </a:solidFill>
                <a:effectLst/>
                <a:latin typeface="Times New Roman" panose="02020603050405020304" pitchFamily="18" charset="0"/>
                <a:cs typeface="Times New Roman" panose="02020603050405020304" pitchFamily="18" charset="0"/>
              </a:rPr>
              <a:t> </a:t>
            </a:r>
            <a:r>
              <a:rPr lang="en-US" sz="1800" b="0" i="0" dirty="0" err="1">
                <a:solidFill>
                  <a:srgbClr val="000000"/>
                </a:solidFill>
                <a:effectLst/>
                <a:latin typeface="Times New Roman" panose="02020603050405020304" pitchFamily="18" charset="0"/>
                <a:cs typeface="Times New Roman" panose="02020603050405020304" pitchFamily="18" charset="0"/>
              </a:rPr>
              <a:t>dịch</a:t>
            </a:r>
            <a:r>
              <a:rPr lang="en-US" sz="1800" b="0" i="0" dirty="0">
                <a:solidFill>
                  <a:srgbClr val="000000"/>
                </a:solidFill>
                <a:effectLst/>
                <a:latin typeface="Times New Roman" panose="02020603050405020304" pitchFamily="18" charset="0"/>
                <a:cs typeface="Times New Roman" panose="02020603050405020304" pitchFamily="18" charset="0"/>
              </a:rPr>
              <a:t>”.</a:t>
            </a:r>
          </a:p>
          <a:p>
            <a:pPr algn="l"/>
            <a:r>
              <a:rPr lang="en-US" sz="1800" b="1" dirty="0">
                <a:solidFill>
                  <a:schemeClr val="accent2">
                    <a:lumMod val="75000"/>
                  </a:schemeClr>
                </a:solidFill>
                <a:latin typeface="Times New Roman" panose="02020603050405020304" pitchFamily="18" charset="0"/>
                <a:cs typeface="Times New Roman" panose="02020603050405020304" pitchFamily="18" charset="0"/>
              </a:rPr>
              <a:t>Scoring Rules</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cũng</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là</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mô</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hình</a:t>
            </a:r>
            <a:r>
              <a:rPr lang="en-US" sz="1800" dirty="0">
                <a:solidFill>
                  <a:srgbClr val="000000"/>
                </a:solidFill>
                <a:latin typeface="Times New Roman" panose="02020603050405020304" pitchFamily="18" charset="0"/>
                <a:cs typeface="Times New Roman" panose="02020603050405020304" pitchFamily="18" charset="0"/>
              </a:rPr>
              <a:t> do </a:t>
            </a:r>
            <a:r>
              <a:rPr lang="en-US" sz="1800" dirty="0" err="1">
                <a:solidFill>
                  <a:srgbClr val="000000"/>
                </a:solidFill>
                <a:latin typeface="Times New Roman" panose="02020603050405020304" pitchFamily="18" charset="0"/>
                <a:cs typeface="Times New Roman" panose="02020603050405020304" pitchFamily="18" charset="0"/>
              </a:rPr>
              <a:t>chuyên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gia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thiết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kế</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Tuy nhiên, chúng hoạt động trên các vectơ đặc trưng và gán điểm cho mỗi giao dịch</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Các quy tắc chấm điểm được các nhà điều tra thiết kế thủ công, tự ý định nghĩa điểm số liên quan. Ví dụ</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“NẾU giao dịch trước đó ở một lục địa khác VÀ cách giao dịch trước đó chưa đầy một giờ THÌ điểm gian lận = 0,95”.</a:t>
            </a:r>
            <a:endParaRPr lang="en-US" sz="1800" dirty="0">
              <a:solidFill>
                <a:srgbClr val="000000"/>
              </a:solidFill>
              <a:latin typeface="Times New Roman" panose="02020603050405020304" pitchFamily="18" charset="0"/>
              <a:cs typeface="Times New Roman" panose="02020603050405020304" pitchFamily="18" charset="0"/>
            </a:endParaRPr>
          </a:p>
          <a:p>
            <a:pPr algn="l"/>
            <a:r>
              <a:rPr lang="en-US" sz="1800" b="1" dirty="0">
                <a:solidFill>
                  <a:schemeClr val="accent2">
                    <a:lumMod val="75000"/>
                  </a:schemeClr>
                </a:solidFill>
                <a:latin typeface="Times New Roman" panose="02020603050405020304" pitchFamily="18" charset="0"/>
                <a:cs typeface="Times New Roman" panose="02020603050405020304" pitchFamily="18" charset="0"/>
              </a:rPr>
              <a:t>Data-Driven Model (DDM)</a:t>
            </a:r>
            <a:r>
              <a:rPr lang="en-US" sz="1800" dirty="0">
                <a:solidFill>
                  <a:srgbClr val="000000"/>
                </a:solidFill>
                <a:latin typeface="Times New Roman" panose="02020603050405020304" pitchFamily="18" charset="0"/>
                <a:cs typeface="Times New Roman" panose="02020603050405020304" pitchFamily="18" charset="0"/>
              </a:rPr>
              <a:t> : </a:t>
            </a:r>
            <a:r>
              <a:rPr lang="vi-VN" sz="1800" dirty="0">
                <a:solidFill>
                  <a:srgbClr val="000000"/>
                </a:solidFill>
                <a:latin typeface="Times New Roman" panose="02020603050405020304" pitchFamily="18" charset="0"/>
                <a:cs typeface="Times New Roman" panose="02020603050405020304" pitchFamily="18" charset="0"/>
              </a:rPr>
              <a:t>mô hình dựa trên dữ liệu được huấn luyện từ một tập hợp các giao dịch được gắn nhãn và không thể được các nhà điều tra diễn giải hoặc sửa đổi thủ công.</a:t>
            </a:r>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algn="l"/>
            <a:r>
              <a:rPr lang="en-US" sz="1800" b="1" dirty="0">
                <a:solidFill>
                  <a:schemeClr val="accent2">
                    <a:lumMod val="75000"/>
                  </a:schemeClr>
                </a:solidFill>
                <a:latin typeface="Times New Roman" panose="02020603050405020304" pitchFamily="18" charset="0"/>
                <a:cs typeface="Times New Roman" panose="02020603050405020304" pitchFamily="18" charset="0"/>
              </a:rPr>
              <a:t>Investigators</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điều</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tra</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viên</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thiết</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kế</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các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quy</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tắc</a:t>
            </a:r>
            <a:r>
              <a:rPr lang="en-US" sz="1800" dirty="0">
                <a:solidFill>
                  <a:srgbClr val="000000"/>
                </a:solidFill>
                <a:latin typeface="Times New Roman" panose="02020603050405020304" pitchFamily="18" charset="0"/>
                <a:cs typeface="Times New Roman" panose="02020603050405020304" pitchFamily="18" charset="0"/>
              </a:rPr>
              <a:t> </a:t>
            </a:r>
            <a:r>
              <a:rPr lang="en-US" sz="1800" dirty="0" err="1">
                <a:solidFill>
                  <a:srgbClr val="000000"/>
                </a:solidFill>
                <a:latin typeface="Times New Roman" panose="02020603050405020304" pitchFamily="18" charset="0"/>
                <a:cs typeface="Times New Roman" panose="02020603050405020304" pitchFamily="18" charset="0"/>
              </a:rPr>
              <a:t>chặn</a:t>
            </a:r>
            <a:r>
              <a:rPr lang="en-US" sz="1800" dirty="0">
                <a:solidFill>
                  <a:srgbClr val="000000"/>
                </a:solidFill>
                <a:latin typeface="Times New Roman" panose="02020603050405020304" pitchFamily="18" charset="0"/>
                <a:cs typeface="Times New Roman" panose="02020603050405020304" pitchFamily="18" charset="0"/>
              </a:rPr>
              <a:t> transaction-blocking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scoring rules, </a:t>
            </a:r>
            <a:r>
              <a:rPr lang="vi-VN" sz="1800" dirty="0">
                <a:solidFill>
                  <a:srgbClr val="000000"/>
                </a:solidFill>
                <a:latin typeface="Times New Roman" panose="02020603050405020304" pitchFamily="18" charset="0"/>
                <a:cs typeface="Times New Roman" panose="02020603050405020304" pitchFamily="18" charset="0"/>
              </a:rPr>
              <a:t>kiểm soát các cảnh báo được đưa ra bởi các</a:t>
            </a:r>
            <a:r>
              <a:rPr lang="en-US" sz="1800" dirty="0">
                <a:solidFill>
                  <a:srgbClr val="000000"/>
                </a:solidFill>
                <a:latin typeface="Times New Roman" panose="02020603050405020304" pitchFamily="18" charset="0"/>
                <a:cs typeface="Times New Roman" panose="02020603050405020304" pitchFamily="18" charset="0"/>
              </a:rPr>
              <a:t> scoring rules </a:t>
            </a:r>
            <a:r>
              <a:rPr lang="en-US" sz="1800" dirty="0" err="1">
                <a:solidFill>
                  <a:srgbClr val="000000"/>
                </a:solidFill>
                <a:latin typeface="Times New Roman" panose="02020603050405020304" pitchFamily="18" charset="0"/>
                <a:cs typeface="Times New Roman" panose="02020603050405020304" pitchFamily="18" charset="0"/>
              </a:rPr>
              <a:t>và</a:t>
            </a:r>
            <a:r>
              <a:rPr lang="en-US" sz="1800" dirty="0">
                <a:solidFill>
                  <a:srgbClr val="000000"/>
                </a:solidFill>
                <a:latin typeface="Times New Roman" panose="02020603050405020304" pitchFamily="18" charset="0"/>
                <a:cs typeface="Times New Roman" panose="02020603050405020304" pitchFamily="18" charset="0"/>
              </a:rPr>
              <a:t> </a:t>
            </a:r>
            <a:r>
              <a:rPr lang="vi-VN" sz="1800" dirty="0">
                <a:solidFill>
                  <a:srgbClr val="000000"/>
                </a:solidFill>
                <a:latin typeface="Times New Roman" panose="02020603050405020304" pitchFamily="18" charset="0"/>
                <a:cs typeface="Times New Roman" panose="02020603050405020304" pitchFamily="18" charset="0"/>
              </a:rPr>
              <a:t>DDM, để xác định xem chúng có tương ứng với gian lận hay cảnh báo sai hay không</a:t>
            </a:r>
            <a:r>
              <a:rPr lang="en-US" sz="1800" dirty="0">
                <a:solidFill>
                  <a:srgbClr val="000000"/>
                </a:solidFill>
                <a:latin typeface="Times New Roman" panose="02020603050405020304" pitchFamily="18" charset="0"/>
                <a:cs typeface="Times New Roman" panose="02020603050405020304" pitchFamily="18" charset="0"/>
              </a:rPr>
              <a:t>.</a:t>
            </a:r>
          </a:p>
          <a:p>
            <a:pPr algn="l"/>
            <a:endParaRPr lang="en-US" sz="1800" b="1" dirty="0">
              <a:solidFill>
                <a:schemeClr val="accent2">
                  <a:lumMod val="75000"/>
                </a:schemeClr>
              </a:solidFill>
              <a:latin typeface="Times New Roman" panose="02020603050405020304" pitchFamily="18" charset="0"/>
              <a:cs typeface="Times New Roman" panose="02020603050405020304" pitchFamily="18" charset="0"/>
            </a:endParaRPr>
          </a:p>
          <a:p>
            <a:pPr algn="l"/>
            <a:endParaRPr lang="en-US" sz="1800" b="0" i="0" dirty="0">
              <a:solidFill>
                <a:srgbClr val="000000"/>
              </a:solidFill>
              <a:effectLst/>
              <a:latin typeface="Times New Roman" panose="02020603050405020304" pitchFamily="18" charset="0"/>
              <a:cs typeface="Times New Roman" panose="02020603050405020304" pitchFamily="18" charset="0"/>
            </a:endParaRPr>
          </a:p>
          <a:p>
            <a:pPr algn="l"/>
            <a:endParaRPr lang="en-US" sz="1800" b="0" i="0" dirty="0">
              <a:solidFill>
                <a:srgbClr val="000000"/>
              </a:solidFill>
              <a:effectLst/>
              <a:latin typeface="Times New Roman" panose="02020603050405020304" pitchFamily="18" charset="0"/>
              <a:cs typeface="Times New Roman" panose="02020603050405020304" pitchFamily="18" charset="0"/>
            </a:endParaRPr>
          </a:p>
        </p:txBody>
      </p:sp>
      <p:sp>
        <p:nvSpPr>
          <p:cNvPr id="12" name="Subtitle 2">
            <a:extLst>
              <a:ext uri="{FF2B5EF4-FFF2-40B4-BE49-F238E27FC236}">
                <a16:creationId xmlns:a16="http://schemas.microsoft.com/office/drawing/2014/main" id="{D8F2014F-174A-5730-6163-88095F0992A5}"/>
              </a:ext>
            </a:extLst>
          </p:cNvPr>
          <p:cNvSpPr txBox="1">
            <a:spLocks/>
          </p:cNvSpPr>
          <p:nvPr/>
        </p:nvSpPr>
        <p:spPr>
          <a:xfrm>
            <a:off x="306095" y="646186"/>
            <a:ext cx="7179226" cy="544660"/>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1" dirty="0">
                <a:solidFill>
                  <a:schemeClr val="accent6">
                    <a:lumMod val="75000"/>
                  </a:schemeClr>
                </a:solidFill>
                <a:latin typeface="Times New Roman" panose="02020603050405020304" pitchFamily="18" charset="0"/>
                <a:cs typeface="Times New Roman" panose="02020603050405020304" pitchFamily="18" charset="0"/>
              </a:rPr>
              <a:t>1.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Hệ</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thống</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phát</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hiện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gian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lận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thẻ</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tín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dụng</a:t>
            </a:r>
            <a:endParaRPr lang="en-US" sz="32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E5D7E120-9AE3-384C-4938-8E7292760A53}"/>
              </a:ext>
            </a:extLst>
          </p:cNvPr>
          <p:cNvPicPr>
            <a:picLocks noChangeAspect="1"/>
          </p:cNvPicPr>
          <p:nvPr/>
        </p:nvPicPr>
        <p:blipFill>
          <a:blip r:embed="rId2"/>
          <a:stretch>
            <a:fillRect/>
          </a:stretch>
        </p:blipFill>
        <p:spPr>
          <a:xfrm>
            <a:off x="59892" y="2036287"/>
            <a:ext cx="5543466" cy="3526941"/>
          </a:xfrm>
          <a:prstGeom prst="rect">
            <a:avLst/>
          </a:prstGeom>
        </p:spPr>
      </p:pic>
    </p:spTree>
    <p:extLst>
      <p:ext uri="{BB962C8B-B14F-4D97-AF65-F5344CB8AC3E}">
        <p14:creationId xmlns:p14="http://schemas.microsoft.com/office/powerpoint/2010/main" val="3584889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4D0C8-06EB-CAD8-09C0-88852FA550E1}"/>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507760F2-2FAC-A042-F083-58DC91963D96}"/>
              </a:ext>
            </a:extLst>
          </p:cNvPr>
          <p:cNvSpPr>
            <a:spLocks noGrp="1"/>
          </p:cNvSpPr>
          <p:nvPr>
            <p:ph type="subTitle" idx="1"/>
          </p:nvPr>
        </p:nvSpPr>
        <p:spPr>
          <a:xfrm>
            <a:off x="454951" y="72028"/>
            <a:ext cx="11282098" cy="544660"/>
          </a:xfrm>
        </p:spPr>
        <p:txBody>
          <a:bodyPr>
            <a:normAutofit/>
          </a:bodyPr>
          <a:lstStyle/>
          <a:p>
            <a:r>
              <a:rPr lang="en-US" sz="3200" b="1" dirty="0">
                <a:solidFill>
                  <a:schemeClr val="tx2">
                    <a:lumMod val="75000"/>
                    <a:lumOff val="25000"/>
                  </a:schemeClr>
                </a:solidFill>
                <a:latin typeface="Times New Roman" panose="02020603050405020304" pitchFamily="18" charset="0"/>
                <a:cs typeface="Times New Roman" panose="02020603050405020304" pitchFamily="18" charset="0"/>
              </a:rPr>
              <a:t>GIẢI PHÁP &amp; CÔNG NGHỆ</a:t>
            </a:r>
            <a:endParaRPr lang="en-US" sz="32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6" name="Subtitle 2">
            <a:extLst>
              <a:ext uri="{FF2B5EF4-FFF2-40B4-BE49-F238E27FC236}">
                <a16:creationId xmlns:a16="http://schemas.microsoft.com/office/drawing/2014/main" id="{95AFA42A-D9D0-F3F1-0DAD-459394DE9624}"/>
              </a:ext>
            </a:extLst>
          </p:cNvPr>
          <p:cNvSpPr txBox="1">
            <a:spLocks/>
          </p:cNvSpPr>
          <p:nvPr/>
        </p:nvSpPr>
        <p:spPr>
          <a:xfrm>
            <a:off x="306095" y="646185"/>
            <a:ext cx="11610922" cy="64590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1" dirty="0">
                <a:solidFill>
                  <a:schemeClr val="accent6">
                    <a:lumMod val="75000"/>
                  </a:schemeClr>
                </a:solidFill>
                <a:latin typeface="Times New Roman" panose="02020603050405020304" pitchFamily="18" charset="0"/>
                <a:cs typeface="Times New Roman" panose="02020603050405020304" pitchFamily="18" charset="0"/>
              </a:rPr>
              <a:t>2.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Xây</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dựng</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hệ</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thống</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phát</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hiện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gian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lận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theo</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thời</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gian</a:t>
            </a:r>
            <a:r>
              <a:rPr lang="en-US" sz="3200" b="1" dirty="0">
                <a:solidFill>
                  <a:schemeClr val="accent6">
                    <a:lumMod val="75000"/>
                  </a:schemeClr>
                </a:solidFill>
                <a:latin typeface="Times New Roman" panose="02020603050405020304" pitchFamily="18" charset="0"/>
                <a:cs typeface="Times New Roman" panose="02020603050405020304" pitchFamily="18" charset="0"/>
              </a:rPr>
              <a:t> </a:t>
            </a:r>
            <a:r>
              <a:rPr lang="en-US" sz="3200" b="1" dirty="0" err="1">
                <a:solidFill>
                  <a:schemeClr val="accent6">
                    <a:lumMod val="75000"/>
                  </a:schemeClr>
                </a:solidFill>
                <a:latin typeface="Times New Roman" panose="02020603050405020304" pitchFamily="18" charset="0"/>
                <a:cs typeface="Times New Roman" panose="02020603050405020304" pitchFamily="18" charset="0"/>
              </a:rPr>
              <a:t>thực</a:t>
            </a:r>
            <a:endParaRPr lang="en-US" sz="3200" b="1" dirty="0">
              <a:solidFill>
                <a:schemeClr val="accent6">
                  <a:lumMod val="7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C455356-90B6-46A4-AACA-C33D320975D6}"/>
              </a:ext>
            </a:extLst>
          </p:cNvPr>
          <p:cNvPicPr>
            <a:picLocks noChangeAspect="1"/>
          </p:cNvPicPr>
          <p:nvPr/>
        </p:nvPicPr>
        <p:blipFill>
          <a:blip r:embed="rId2"/>
          <a:stretch>
            <a:fillRect/>
          </a:stretch>
        </p:blipFill>
        <p:spPr>
          <a:xfrm>
            <a:off x="423862" y="2000250"/>
            <a:ext cx="11344275" cy="2857500"/>
          </a:xfrm>
          <a:prstGeom prst="rect">
            <a:avLst/>
          </a:prstGeom>
        </p:spPr>
      </p:pic>
    </p:spTree>
    <p:extLst>
      <p:ext uri="{BB962C8B-B14F-4D97-AF65-F5344CB8AC3E}">
        <p14:creationId xmlns:p14="http://schemas.microsoft.com/office/powerpoint/2010/main" val="3828727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89F836-E5C1-F443-6C34-8E9DBADB04C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459807F-B6FA-44D3-9A53-C55B6B568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80681"/>
            <a:ext cx="12192000" cy="277731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6D4978-B5B6-4BD0-B0B8-E39C8025BE55}"/>
              </a:ext>
            </a:extLst>
          </p:cNvPr>
          <p:cNvSpPr txBox="1"/>
          <p:nvPr/>
        </p:nvSpPr>
        <p:spPr>
          <a:xfrm>
            <a:off x="1046339" y="4585697"/>
            <a:ext cx="9681882" cy="739880"/>
          </a:xfrm>
          <a:prstGeom prst="rect">
            <a:avLst/>
          </a:prstGeom>
        </p:spPr>
        <p:txBody>
          <a:bodyPr vert="horz" lIns="91440" tIns="45720" rIns="91440" bIns="45720" rtlCol="0" anchor="b">
            <a:noAutofit/>
          </a:bodyPr>
          <a:lstStyle/>
          <a:p>
            <a:pPr algn="ctr">
              <a:lnSpc>
                <a:spcPct val="90000"/>
              </a:lnSpc>
              <a:spcBef>
                <a:spcPct val="0"/>
              </a:spcBef>
              <a:spcAft>
                <a:spcPts val="600"/>
              </a:spcAft>
            </a:pPr>
            <a:r>
              <a:rPr lang="en-US" sz="3200" b="1" dirty="0">
                <a:solidFill>
                  <a:schemeClr val="tx1">
                    <a:lumMod val="85000"/>
                    <a:lumOff val="15000"/>
                  </a:schemeClr>
                </a:solidFill>
                <a:latin typeface="Times New Roman" panose="02020603050405020304" pitchFamily="18" charset="0"/>
                <a:ea typeface="+mj-ea"/>
                <a:cs typeface="Times New Roman" panose="02020603050405020304" pitchFamily="18" charset="0"/>
              </a:rPr>
              <a:t>Định </a:t>
            </a:r>
            <a:r>
              <a:rPr lang="en-US" sz="3200" b="1"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hướng</a:t>
            </a:r>
            <a:r>
              <a:rPr lang="en-US" sz="3200" b="1"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b="1"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đầu</a:t>
            </a:r>
            <a:r>
              <a:rPr lang="en-US" sz="3200" b="1"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b="1"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ra</a:t>
            </a:r>
            <a:r>
              <a:rPr lang="en-US" sz="3200" b="1" dirty="0">
                <a:solidFill>
                  <a:schemeClr val="tx1">
                    <a:lumMod val="85000"/>
                    <a:lumOff val="15000"/>
                  </a:schemeClr>
                </a:solidFill>
                <a:latin typeface="Times New Roman" panose="02020603050405020304" pitchFamily="18" charset="0"/>
                <a:ea typeface="+mj-ea"/>
                <a:cs typeface="Times New Roman" panose="02020603050405020304" pitchFamily="18" charset="0"/>
              </a:rPr>
              <a:t>:</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Phù</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hợp</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đi</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làm</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Fintech,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Nghiên</a:t>
            </a:r>
            <a:r>
              <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 </a:t>
            </a:r>
            <a:r>
              <a:rPr lang="en-US" sz="3200" dirty="0" err="1">
                <a:solidFill>
                  <a:schemeClr val="tx1">
                    <a:lumMod val="85000"/>
                    <a:lumOff val="15000"/>
                  </a:schemeClr>
                </a:solidFill>
                <a:latin typeface="Times New Roman" panose="02020603050405020304" pitchFamily="18" charset="0"/>
                <a:ea typeface="+mj-ea"/>
                <a:cs typeface="Times New Roman" panose="02020603050405020304" pitchFamily="18" charset="0"/>
              </a:rPr>
              <a:t>cứu</a:t>
            </a:r>
            <a:endParaRPr 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endParaRPr>
          </a:p>
        </p:txBody>
      </p:sp>
      <p:sp>
        <p:nvSpPr>
          <p:cNvPr id="4" name="Subtitle 2">
            <a:extLst>
              <a:ext uri="{FF2B5EF4-FFF2-40B4-BE49-F238E27FC236}">
                <a16:creationId xmlns:a16="http://schemas.microsoft.com/office/drawing/2014/main" id="{FA9E033B-E7B3-5744-55B1-30848FBAA6A4}"/>
              </a:ext>
            </a:extLst>
          </p:cNvPr>
          <p:cNvSpPr>
            <a:spLocks noGrp="1"/>
          </p:cNvSpPr>
          <p:nvPr>
            <p:ph type="subTitle" idx="1"/>
          </p:nvPr>
        </p:nvSpPr>
        <p:spPr>
          <a:xfrm>
            <a:off x="2438400" y="5721848"/>
            <a:ext cx="7315199" cy="739880"/>
          </a:xfrm>
        </p:spPr>
        <p:txBody>
          <a:bodyPr vert="horz" lIns="91440" tIns="45720" rIns="91440" bIns="45720" rtlCol="0" anchor="t">
            <a:noAutofit/>
          </a:bodyPr>
          <a:lstStyle/>
          <a:p>
            <a:r>
              <a:rPr lang="en-US" sz="3600" b="1" dirty="0">
                <a:solidFill>
                  <a:schemeClr val="tx2">
                    <a:lumMod val="75000"/>
                    <a:lumOff val="25000"/>
                  </a:schemeClr>
                </a:solidFill>
                <a:latin typeface="Times New Roman" panose="02020603050405020304" pitchFamily="18" charset="0"/>
                <a:cs typeface="Times New Roman" panose="02020603050405020304" pitchFamily="18" charset="0"/>
              </a:rPr>
              <a:t>ĐỊNH HƯỚNG ĐẦU RA</a:t>
            </a:r>
            <a:endParaRPr lang="en-US" sz="3600"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pic>
        <p:nvPicPr>
          <p:cNvPr id="8" name="Picture 7" descr="Paper planes in the sky&#10;&#10;AI-generated content may be incorrect.">
            <a:extLst>
              <a:ext uri="{FF2B5EF4-FFF2-40B4-BE49-F238E27FC236}">
                <a16:creationId xmlns:a16="http://schemas.microsoft.com/office/drawing/2014/main" id="{7455AE01-4899-B98E-8EAC-E187B724FFD5}"/>
              </a:ext>
            </a:extLst>
          </p:cNvPr>
          <p:cNvPicPr>
            <a:picLocks noChangeAspect="1"/>
          </p:cNvPicPr>
          <p:nvPr/>
        </p:nvPicPr>
        <p:blipFill>
          <a:blip r:embed="rId2"/>
          <a:srcRect l="7871" r="3069"/>
          <a:stretch>
            <a:fillRect/>
          </a:stretch>
        </p:blipFill>
        <p:spPr>
          <a:xfrm>
            <a:off x="20" y="11"/>
            <a:ext cx="12191979" cy="5088824"/>
          </a:xfrm>
          <a:custGeom>
            <a:avLst/>
            <a:gdLst/>
            <a:ahLst/>
            <a:cxnLst/>
            <a:rect l="l" t="t" r="r" b="b"/>
            <a:pathLst>
              <a:path w="12191999" h="5886533">
                <a:moveTo>
                  <a:pt x="4721173" y="4907914"/>
                </a:moveTo>
                <a:lnTo>
                  <a:pt x="4722109" y="4908125"/>
                </a:lnTo>
                <a:cubicBezTo>
                  <a:pt x="4721143" y="4908767"/>
                  <a:pt x="4718263" y="4909373"/>
                  <a:pt x="4717199" y="4909396"/>
                </a:cubicBezTo>
                <a:close/>
                <a:moveTo>
                  <a:pt x="0" y="0"/>
                </a:moveTo>
                <a:lnTo>
                  <a:pt x="12191999" y="0"/>
                </a:lnTo>
                <a:lnTo>
                  <a:pt x="12191999" y="5751311"/>
                </a:lnTo>
                <a:lnTo>
                  <a:pt x="12140860" y="5770509"/>
                </a:lnTo>
                <a:cubicBezTo>
                  <a:pt x="12126656" y="5772723"/>
                  <a:pt x="12093589" y="5827925"/>
                  <a:pt x="12080161" y="5826358"/>
                </a:cubicBezTo>
                <a:cubicBezTo>
                  <a:pt x="11978188" y="5850511"/>
                  <a:pt x="11967361" y="5873564"/>
                  <a:pt x="11917885" y="5861578"/>
                </a:cubicBezTo>
                <a:cubicBezTo>
                  <a:pt x="11872779" y="5859863"/>
                  <a:pt x="11928861" y="5896778"/>
                  <a:pt x="11894610" y="5883738"/>
                </a:cubicBezTo>
                <a:cubicBezTo>
                  <a:pt x="11860359" y="5870698"/>
                  <a:pt x="11736091" y="5807232"/>
                  <a:pt x="11712379" y="5783337"/>
                </a:cubicBezTo>
                <a:cubicBezTo>
                  <a:pt x="11688667" y="5759442"/>
                  <a:pt x="11627912" y="5782933"/>
                  <a:pt x="11585366" y="5740371"/>
                </a:cubicBezTo>
                <a:lnTo>
                  <a:pt x="11516470" y="5663679"/>
                </a:lnTo>
                <a:cubicBezTo>
                  <a:pt x="11468274" y="5661847"/>
                  <a:pt x="11507335" y="5626593"/>
                  <a:pt x="11462692" y="5610127"/>
                </a:cubicBezTo>
                <a:cubicBezTo>
                  <a:pt x="11417567" y="5608500"/>
                  <a:pt x="11408021" y="5556613"/>
                  <a:pt x="11369712" y="5548654"/>
                </a:cubicBezTo>
                <a:cubicBezTo>
                  <a:pt x="11354317" y="5554704"/>
                  <a:pt x="11288328" y="5499810"/>
                  <a:pt x="11273969" y="5488986"/>
                </a:cubicBezTo>
                <a:cubicBezTo>
                  <a:pt x="11231913" y="5490378"/>
                  <a:pt x="11221973" y="5480544"/>
                  <a:pt x="11195084" y="5467967"/>
                </a:cubicBezTo>
                <a:cubicBezTo>
                  <a:pt x="11164086" y="5497749"/>
                  <a:pt x="11171649" y="5471790"/>
                  <a:pt x="11143408" y="5468614"/>
                </a:cubicBezTo>
                <a:cubicBezTo>
                  <a:pt x="11125906" y="5464975"/>
                  <a:pt x="11102603" y="5460835"/>
                  <a:pt x="11085935" y="5459365"/>
                </a:cubicBezTo>
                <a:cubicBezTo>
                  <a:pt x="11057493" y="5459661"/>
                  <a:pt x="11029906" y="5441496"/>
                  <a:pt x="11030953" y="5456484"/>
                </a:cubicBezTo>
                <a:cubicBezTo>
                  <a:pt x="11007784" y="5459001"/>
                  <a:pt x="10982005" y="5463178"/>
                  <a:pt x="10951060" y="5461240"/>
                </a:cubicBezTo>
                <a:cubicBezTo>
                  <a:pt x="10885365" y="5424406"/>
                  <a:pt x="10915288" y="5460968"/>
                  <a:pt x="10857721" y="5448157"/>
                </a:cubicBezTo>
                <a:cubicBezTo>
                  <a:pt x="10806646" y="5435790"/>
                  <a:pt x="10707075" y="5402712"/>
                  <a:pt x="10644616" y="5387039"/>
                </a:cubicBezTo>
                <a:cubicBezTo>
                  <a:pt x="10616446" y="5382224"/>
                  <a:pt x="10558603" y="5371613"/>
                  <a:pt x="10519277" y="5366793"/>
                </a:cubicBezTo>
                <a:cubicBezTo>
                  <a:pt x="10495461" y="5368312"/>
                  <a:pt x="10473830" y="5354868"/>
                  <a:pt x="10445981" y="5364735"/>
                </a:cubicBezTo>
                <a:cubicBezTo>
                  <a:pt x="10436536" y="5368773"/>
                  <a:pt x="10409281" y="5367966"/>
                  <a:pt x="10383865" y="5360888"/>
                </a:cubicBezTo>
                <a:cubicBezTo>
                  <a:pt x="10374827" y="5369095"/>
                  <a:pt x="10347864" y="5360432"/>
                  <a:pt x="10336852" y="5360277"/>
                </a:cubicBezTo>
                <a:cubicBezTo>
                  <a:pt x="10323586" y="5366987"/>
                  <a:pt x="10274741" y="5357921"/>
                  <a:pt x="10261098" y="5350526"/>
                </a:cubicBezTo>
                <a:lnTo>
                  <a:pt x="10126497" y="5339011"/>
                </a:lnTo>
                <a:lnTo>
                  <a:pt x="10082166" y="5336916"/>
                </a:lnTo>
                <a:cubicBezTo>
                  <a:pt x="10074567" y="5338985"/>
                  <a:pt x="10046860" y="5337657"/>
                  <a:pt x="10039237" y="5338580"/>
                </a:cubicBezTo>
                <a:cubicBezTo>
                  <a:pt x="9998458" y="5328479"/>
                  <a:pt x="9984394" y="5327989"/>
                  <a:pt x="9960016" y="5323065"/>
                </a:cubicBezTo>
                <a:cubicBezTo>
                  <a:pt x="9918980" y="5322923"/>
                  <a:pt x="9888741" y="5326122"/>
                  <a:pt x="9847789" y="5316297"/>
                </a:cubicBezTo>
                <a:lnTo>
                  <a:pt x="9728306" y="5296090"/>
                </a:lnTo>
                <a:cubicBezTo>
                  <a:pt x="9675056" y="5305676"/>
                  <a:pt x="9602035" y="5297282"/>
                  <a:pt x="9584504" y="5284670"/>
                </a:cubicBezTo>
                <a:cubicBezTo>
                  <a:pt x="9518952" y="5270394"/>
                  <a:pt x="9415429" y="5244268"/>
                  <a:pt x="9343049" y="5238968"/>
                </a:cubicBezTo>
                <a:lnTo>
                  <a:pt x="9231367" y="5187063"/>
                </a:lnTo>
                <a:lnTo>
                  <a:pt x="9194807" y="5176984"/>
                </a:lnTo>
                <a:lnTo>
                  <a:pt x="9189243" y="5167745"/>
                </a:lnTo>
                <a:lnTo>
                  <a:pt x="9151229" y="5156543"/>
                </a:lnTo>
                <a:lnTo>
                  <a:pt x="9150207" y="5157608"/>
                </a:lnTo>
                <a:cubicBezTo>
                  <a:pt x="9147045" y="5159739"/>
                  <a:pt x="9143081" y="5160831"/>
                  <a:pt x="9137315" y="5159777"/>
                </a:cubicBezTo>
                <a:cubicBezTo>
                  <a:pt x="9138862" y="5179261"/>
                  <a:pt x="9130952" y="5165972"/>
                  <a:pt x="9113809" y="5161143"/>
                </a:cubicBezTo>
                <a:cubicBezTo>
                  <a:pt x="9112388" y="5190326"/>
                  <a:pt x="9068114" y="5155892"/>
                  <a:pt x="9053450" y="5169457"/>
                </a:cubicBezTo>
                <a:lnTo>
                  <a:pt x="9005483" y="5166172"/>
                </a:lnTo>
                <a:lnTo>
                  <a:pt x="9005198" y="5166412"/>
                </a:lnTo>
                <a:cubicBezTo>
                  <a:pt x="9003143" y="5166632"/>
                  <a:pt x="9000324" y="5166304"/>
                  <a:pt x="8996229" y="5165201"/>
                </a:cubicBezTo>
                <a:lnTo>
                  <a:pt x="8990391" y="5163140"/>
                </a:lnTo>
                <a:lnTo>
                  <a:pt x="8974334" y="5159914"/>
                </a:lnTo>
                <a:lnTo>
                  <a:pt x="8968008" y="5160614"/>
                </a:lnTo>
                <a:lnTo>
                  <a:pt x="8963045" y="5162839"/>
                </a:lnTo>
                <a:cubicBezTo>
                  <a:pt x="8954690" y="5154888"/>
                  <a:pt x="8955517" y="5145940"/>
                  <a:pt x="8928985" y="5166027"/>
                </a:cubicBezTo>
                <a:cubicBezTo>
                  <a:pt x="8898031" y="5165007"/>
                  <a:pt x="8789300" y="5150352"/>
                  <a:pt x="8752441" y="5146795"/>
                </a:cubicBezTo>
                <a:cubicBezTo>
                  <a:pt x="8719819" y="5136075"/>
                  <a:pt x="8748194" y="5149736"/>
                  <a:pt x="8707844" y="5144694"/>
                </a:cubicBezTo>
                <a:cubicBezTo>
                  <a:pt x="8671606" y="5125159"/>
                  <a:pt x="8639142" y="5141599"/>
                  <a:pt x="8596068" y="5136122"/>
                </a:cubicBezTo>
                <a:lnTo>
                  <a:pt x="8525227" y="5150964"/>
                </a:lnTo>
                <a:lnTo>
                  <a:pt x="8510980" y="5145049"/>
                </a:lnTo>
                <a:lnTo>
                  <a:pt x="8506164" y="5142048"/>
                </a:lnTo>
                <a:cubicBezTo>
                  <a:pt x="8502646" y="5140271"/>
                  <a:pt x="8500045" y="5139460"/>
                  <a:pt x="8497965" y="5139310"/>
                </a:cubicBezTo>
                <a:lnTo>
                  <a:pt x="8497591" y="5139489"/>
                </a:lnTo>
                <a:lnTo>
                  <a:pt x="8490246" y="5136439"/>
                </a:lnTo>
                <a:lnTo>
                  <a:pt x="8367179" y="5122397"/>
                </a:lnTo>
                <a:cubicBezTo>
                  <a:pt x="8362021" y="5120372"/>
                  <a:pt x="8357730" y="5120720"/>
                  <a:pt x="8353796" y="5122203"/>
                </a:cubicBezTo>
                <a:lnTo>
                  <a:pt x="8352369" y="5123043"/>
                </a:lnTo>
                <a:lnTo>
                  <a:pt x="8320101" y="5105625"/>
                </a:lnTo>
                <a:lnTo>
                  <a:pt x="8314429" y="5105299"/>
                </a:lnTo>
                <a:lnTo>
                  <a:pt x="8295170" y="5091404"/>
                </a:lnTo>
                <a:lnTo>
                  <a:pt x="8284273" y="5085581"/>
                </a:lnTo>
                <a:lnTo>
                  <a:pt x="8283146" y="5081138"/>
                </a:lnTo>
                <a:cubicBezTo>
                  <a:pt x="8280842" y="5077893"/>
                  <a:pt x="8276148" y="5075245"/>
                  <a:pt x="8266072" y="5073963"/>
                </a:cubicBezTo>
                <a:lnTo>
                  <a:pt x="8263373" y="5074193"/>
                </a:lnTo>
                <a:lnTo>
                  <a:pt x="8252030" y="5064350"/>
                </a:lnTo>
                <a:cubicBezTo>
                  <a:pt x="8248856" y="5060500"/>
                  <a:pt x="8246644" y="5056218"/>
                  <a:pt x="8245831" y="5051358"/>
                </a:cubicBezTo>
                <a:cubicBezTo>
                  <a:pt x="8181824" y="5054265"/>
                  <a:pt x="8147127" y="5020143"/>
                  <a:pt x="8090268" y="5005197"/>
                </a:cubicBezTo>
                <a:cubicBezTo>
                  <a:pt x="8025464" y="4982055"/>
                  <a:pt x="7967067" y="4960819"/>
                  <a:pt x="7905404" y="4963224"/>
                </a:cubicBezTo>
                <a:cubicBezTo>
                  <a:pt x="7835116" y="4948312"/>
                  <a:pt x="7780962" y="4946081"/>
                  <a:pt x="7718741" y="4937509"/>
                </a:cubicBezTo>
                <a:lnTo>
                  <a:pt x="7614343" y="4940980"/>
                </a:lnTo>
                <a:lnTo>
                  <a:pt x="7527539" y="4935152"/>
                </a:lnTo>
                <a:lnTo>
                  <a:pt x="7519567" y="4932599"/>
                </a:lnTo>
                <a:cubicBezTo>
                  <a:pt x="7513989" y="4931260"/>
                  <a:pt x="7510169" y="4930910"/>
                  <a:pt x="7507408" y="4931264"/>
                </a:cubicBezTo>
                <a:lnTo>
                  <a:pt x="7507036" y="4931591"/>
                </a:lnTo>
                <a:lnTo>
                  <a:pt x="7495791" y="4929639"/>
                </a:lnTo>
                <a:cubicBezTo>
                  <a:pt x="7476982" y="4925521"/>
                  <a:pt x="7422524" y="4942937"/>
                  <a:pt x="7405387" y="4937744"/>
                </a:cubicBezTo>
                <a:cubicBezTo>
                  <a:pt x="7374785" y="4940694"/>
                  <a:pt x="7333986" y="4941799"/>
                  <a:pt x="7312176" y="4947339"/>
                </a:cubicBezTo>
                <a:lnTo>
                  <a:pt x="7310849" y="4948781"/>
                </a:lnTo>
                <a:lnTo>
                  <a:pt x="7218556" y="4923532"/>
                </a:lnTo>
                <a:lnTo>
                  <a:pt x="7201098" y="4918982"/>
                </a:lnTo>
                <a:lnTo>
                  <a:pt x="7197000" y="4913624"/>
                </a:lnTo>
                <a:cubicBezTo>
                  <a:pt x="7192108" y="4910101"/>
                  <a:pt x="7184502" y="4907962"/>
                  <a:pt x="7170804" y="4908976"/>
                </a:cubicBezTo>
                <a:lnTo>
                  <a:pt x="7096984" y="4896748"/>
                </a:lnTo>
                <a:cubicBezTo>
                  <a:pt x="7061144" y="4895770"/>
                  <a:pt x="7050185" y="4894793"/>
                  <a:pt x="7018492" y="4897122"/>
                </a:cubicBezTo>
                <a:cubicBezTo>
                  <a:pt x="6937524" y="4886184"/>
                  <a:pt x="6943641" y="4862018"/>
                  <a:pt x="6904142" y="4867616"/>
                </a:cubicBezTo>
                <a:cubicBezTo>
                  <a:pt x="6871918" y="4872824"/>
                  <a:pt x="6787985" y="4853750"/>
                  <a:pt x="6708218" y="4839661"/>
                </a:cubicBezTo>
                <a:cubicBezTo>
                  <a:pt x="6649102" y="4830206"/>
                  <a:pt x="6628102" y="4816105"/>
                  <a:pt x="6549451" y="4810885"/>
                </a:cubicBezTo>
                <a:cubicBezTo>
                  <a:pt x="6472150" y="4766795"/>
                  <a:pt x="6409692" y="4790518"/>
                  <a:pt x="6317556" y="4764085"/>
                </a:cubicBezTo>
                <a:cubicBezTo>
                  <a:pt x="6297547" y="4748563"/>
                  <a:pt x="6209288" y="4765756"/>
                  <a:pt x="6168670" y="4761998"/>
                </a:cubicBezTo>
                <a:cubicBezTo>
                  <a:pt x="6128052" y="4758240"/>
                  <a:pt x="6090536" y="4744692"/>
                  <a:pt x="6073844" y="4741536"/>
                </a:cubicBezTo>
                <a:lnTo>
                  <a:pt x="6068526" y="4743073"/>
                </a:lnTo>
                <a:lnTo>
                  <a:pt x="6048634" y="4742390"/>
                </a:lnTo>
                <a:lnTo>
                  <a:pt x="6041279" y="4750739"/>
                </a:lnTo>
                <a:lnTo>
                  <a:pt x="6010088" y="4755832"/>
                </a:lnTo>
                <a:cubicBezTo>
                  <a:pt x="5998677" y="4756419"/>
                  <a:pt x="5970124" y="4755506"/>
                  <a:pt x="5957373" y="4752188"/>
                </a:cubicBezTo>
                <a:lnTo>
                  <a:pt x="5758915" y="4736496"/>
                </a:lnTo>
                <a:lnTo>
                  <a:pt x="5626957" y="4735473"/>
                </a:lnTo>
                <a:lnTo>
                  <a:pt x="5470902" y="4749493"/>
                </a:lnTo>
                <a:cubicBezTo>
                  <a:pt x="5478131" y="4762521"/>
                  <a:pt x="5439006" y="4748455"/>
                  <a:pt x="5432757" y="4760746"/>
                </a:cubicBezTo>
                <a:cubicBezTo>
                  <a:pt x="5429365" y="4770778"/>
                  <a:pt x="5391824" y="4775462"/>
                  <a:pt x="5381664" y="4778448"/>
                </a:cubicBezTo>
                <a:lnTo>
                  <a:pt x="5261760" y="4798865"/>
                </a:lnTo>
                <a:cubicBezTo>
                  <a:pt x="5251595" y="4799049"/>
                  <a:pt x="5230547" y="4807359"/>
                  <a:pt x="5222959" y="4809989"/>
                </a:cubicBezTo>
                <a:lnTo>
                  <a:pt x="5174657" y="4812979"/>
                </a:lnTo>
                <a:lnTo>
                  <a:pt x="5156551" y="4820202"/>
                </a:lnTo>
                <a:lnTo>
                  <a:pt x="5142595" y="4823602"/>
                </a:lnTo>
                <a:lnTo>
                  <a:pt x="5139593" y="4825703"/>
                </a:lnTo>
                <a:cubicBezTo>
                  <a:pt x="5133873" y="4829743"/>
                  <a:pt x="5128076" y="4833554"/>
                  <a:pt x="5121656" y="4836556"/>
                </a:cubicBezTo>
                <a:cubicBezTo>
                  <a:pt x="5108317" y="4807937"/>
                  <a:pt x="5064853" y="4857373"/>
                  <a:pt x="5065787" y="4829985"/>
                </a:cubicBezTo>
                <a:cubicBezTo>
                  <a:pt x="5028193" y="4841501"/>
                  <a:pt x="5038944" y="4812412"/>
                  <a:pt x="5011510" y="4846366"/>
                </a:cubicBezTo>
                <a:cubicBezTo>
                  <a:pt x="4937023" y="4845983"/>
                  <a:pt x="4916353" y="4832976"/>
                  <a:pt x="4840437" y="4870383"/>
                </a:cubicBezTo>
                <a:cubicBezTo>
                  <a:pt x="4806739" y="4887025"/>
                  <a:pt x="4784106" y="4898171"/>
                  <a:pt x="4762444" y="4898151"/>
                </a:cubicBezTo>
                <a:cubicBezTo>
                  <a:pt x="4741323" y="4902652"/>
                  <a:pt x="4729481" y="4905474"/>
                  <a:pt x="4723182" y="4907166"/>
                </a:cubicBezTo>
                <a:lnTo>
                  <a:pt x="4721173" y="4907914"/>
                </a:lnTo>
                <a:lnTo>
                  <a:pt x="4715524" y="4906639"/>
                </a:lnTo>
                <a:cubicBezTo>
                  <a:pt x="4680148" y="4913595"/>
                  <a:pt x="4524744" y="4914403"/>
                  <a:pt x="4515810" y="4916541"/>
                </a:cubicBezTo>
                <a:cubicBezTo>
                  <a:pt x="4457819" y="4929653"/>
                  <a:pt x="4462659" y="4930394"/>
                  <a:pt x="4428539" y="4927192"/>
                </a:cubicBezTo>
                <a:cubicBezTo>
                  <a:pt x="4423303" y="4923821"/>
                  <a:pt x="4368974" y="4930115"/>
                  <a:pt x="4362872" y="4928538"/>
                </a:cubicBezTo>
                <a:lnTo>
                  <a:pt x="4316962" y="4921923"/>
                </a:lnTo>
                <a:lnTo>
                  <a:pt x="4315106" y="4923264"/>
                </a:lnTo>
                <a:cubicBezTo>
                  <a:pt x="4306123" y="4926635"/>
                  <a:pt x="4299993" y="4926634"/>
                  <a:pt x="4295140" y="4925143"/>
                </a:cubicBezTo>
                <a:lnTo>
                  <a:pt x="4290059" y="4922226"/>
                </a:lnTo>
                <a:lnTo>
                  <a:pt x="4276138" y="4922472"/>
                </a:lnTo>
                <a:lnTo>
                  <a:pt x="4248113" y="4920148"/>
                </a:lnTo>
                <a:lnTo>
                  <a:pt x="4202046" y="4922943"/>
                </a:lnTo>
                <a:cubicBezTo>
                  <a:pt x="4201945" y="4923363"/>
                  <a:pt x="4201842" y="4923782"/>
                  <a:pt x="4201741" y="4924202"/>
                </a:cubicBezTo>
                <a:cubicBezTo>
                  <a:pt x="4200116" y="4927039"/>
                  <a:pt x="4197140" y="4929158"/>
                  <a:pt x="4191245" y="4929836"/>
                </a:cubicBezTo>
                <a:cubicBezTo>
                  <a:pt x="4204212" y="4947125"/>
                  <a:pt x="4161274" y="4945230"/>
                  <a:pt x="4142742" y="4945701"/>
                </a:cubicBezTo>
                <a:cubicBezTo>
                  <a:pt x="4124717" y="4952767"/>
                  <a:pt x="4099099" y="4966347"/>
                  <a:pt x="4083094" y="4972234"/>
                </a:cubicBezTo>
                <a:lnTo>
                  <a:pt x="4074543" y="4973069"/>
                </a:lnTo>
                <a:cubicBezTo>
                  <a:pt x="4074504" y="4973170"/>
                  <a:pt x="4074463" y="4973269"/>
                  <a:pt x="4074424" y="4973368"/>
                </a:cubicBezTo>
                <a:cubicBezTo>
                  <a:pt x="4072678" y="4974152"/>
                  <a:pt x="4069906" y="4974653"/>
                  <a:pt x="4065507" y="4974812"/>
                </a:cubicBezTo>
                <a:lnTo>
                  <a:pt x="4058951" y="4974594"/>
                </a:lnTo>
                <a:lnTo>
                  <a:pt x="4042361" y="4976215"/>
                </a:lnTo>
                <a:lnTo>
                  <a:pt x="4036993" y="4978649"/>
                </a:lnTo>
                <a:lnTo>
                  <a:pt x="4035360" y="4982316"/>
                </a:lnTo>
                <a:lnTo>
                  <a:pt x="4033775" y="4982081"/>
                </a:lnTo>
                <a:cubicBezTo>
                  <a:pt x="4021424" y="4977217"/>
                  <a:pt x="4016874" y="4968841"/>
                  <a:pt x="4004535" y="4994649"/>
                </a:cubicBezTo>
                <a:cubicBezTo>
                  <a:pt x="3976667" y="4987584"/>
                  <a:pt x="3972977" y="5002913"/>
                  <a:pt x="3936843" y="5012106"/>
                </a:cubicBezTo>
                <a:cubicBezTo>
                  <a:pt x="3920506" y="5004382"/>
                  <a:pt x="3908535" y="5009071"/>
                  <a:pt x="3897272" y="5017761"/>
                </a:cubicBezTo>
                <a:cubicBezTo>
                  <a:pt x="3861092" y="5017265"/>
                  <a:pt x="3829628" y="5031135"/>
                  <a:pt x="3789757" y="5037999"/>
                </a:cubicBezTo>
                <a:cubicBezTo>
                  <a:pt x="3741007" y="5052705"/>
                  <a:pt x="3725129" y="5054682"/>
                  <a:pt x="3682510" y="5061922"/>
                </a:cubicBezTo>
                <a:lnTo>
                  <a:pt x="3610032" y="5094193"/>
                </a:lnTo>
                <a:lnTo>
                  <a:pt x="3603852" y="5092831"/>
                </a:lnTo>
                <a:cubicBezTo>
                  <a:pt x="3599580" y="5092212"/>
                  <a:pt x="3596726" y="5092212"/>
                  <a:pt x="3594733" y="5092667"/>
                </a:cubicBezTo>
                <a:lnTo>
                  <a:pt x="3594498" y="5092936"/>
                </a:lnTo>
                <a:lnTo>
                  <a:pt x="3585975" y="5092246"/>
                </a:lnTo>
                <a:cubicBezTo>
                  <a:pt x="3571623" y="5090455"/>
                  <a:pt x="3549389" y="5104654"/>
                  <a:pt x="3536132" y="5101945"/>
                </a:cubicBezTo>
                <a:cubicBezTo>
                  <a:pt x="3513940" y="5106241"/>
                  <a:pt x="3488622" y="5099976"/>
                  <a:pt x="3473220" y="5105606"/>
                </a:cubicBezTo>
                <a:lnTo>
                  <a:pt x="3400725" y="5117654"/>
                </a:lnTo>
                <a:lnTo>
                  <a:pt x="3375935" y="5106247"/>
                </a:lnTo>
                <a:lnTo>
                  <a:pt x="3348219" y="5109860"/>
                </a:lnTo>
                <a:cubicBezTo>
                  <a:pt x="3337206" y="5110533"/>
                  <a:pt x="3327054" y="5111295"/>
                  <a:pt x="3319639" y="5114795"/>
                </a:cubicBezTo>
                <a:lnTo>
                  <a:pt x="3248529" y="5133347"/>
                </a:lnTo>
                <a:lnTo>
                  <a:pt x="3210308" y="5119794"/>
                </a:lnTo>
                <a:cubicBezTo>
                  <a:pt x="3206088" y="5117870"/>
                  <a:pt x="3200152" y="5117326"/>
                  <a:pt x="3190375" y="5119915"/>
                </a:cubicBezTo>
                <a:lnTo>
                  <a:pt x="3188145" y="5121096"/>
                </a:lnTo>
                <a:cubicBezTo>
                  <a:pt x="3182625" y="5119116"/>
                  <a:pt x="3141856" y="5121682"/>
                  <a:pt x="3108596" y="5122416"/>
                </a:cubicBezTo>
                <a:cubicBezTo>
                  <a:pt x="3055968" y="5124842"/>
                  <a:pt x="3048940" y="5117475"/>
                  <a:pt x="2988584" y="5125502"/>
                </a:cubicBezTo>
                <a:cubicBezTo>
                  <a:pt x="2928853" y="5129690"/>
                  <a:pt x="2917951" y="5124649"/>
                  <a:pt x="2876540" y="5133019"/>
                </a:cubicBezTo>
                <a:lnTo>
                  <a:pt x="2626864" y="5133771"/>
                </a:lnTo>
                <a:cubicBezTo>
                  <a:pt x="2562348" y="5111858"/>
                  <a:pt x="2563422" y="5142456"/>
                  <a:pt x="2491422" y="5135486"/>
                </a:cubicBezTo>
                <a:cubicBezTo>
                  <a:pt x="2433091" y="5200962"/>
                  <a:pt x="2455709" y="5160483"/>
                  <a:pt x="2415617" y="5168715"/>
                </a:cubicBezTo>
                <a:lnTo>
                  <a:pt x="2290098" y="5166151"/>
                </a:lnTo>
                <a:cubicBezTo>
                  <a:pt x="2257057" y="5152522"/>
                  <a:pt x="2202458" y="5187690"/>
                  <a:pt x="2161714" y="5169302"/>
                </a:cubicBezTo>
                <a:cubicBezTo>
                  <a:pt x="2122714" y="5172302"/>
                  <a:pt x="2080450" y="5180350"/>
                  <a:pt x="2056089" y="5184144"/>
                </a:cubicBezTo>
                <a:cubicBezTo>
                  <a:pt x="2019828" y="5191108"/>
                  <a:pt x="1978839" y="5203797"/>
                  <a:pt x="1944153" y="5211084"/>
                </a:cubicBezTo>
                <a:cubicBezTo>
                  <a:pt x="1925867" y="5199079"/>
                  <a:pt x="1896027" y="5224183"/>
                  <a:pt x="1847968" y="5227868"/>
                </a:cubicBezTo>
                <a:cubicBezTo>
                  <a:pt x="1827977" y="5213971"/>
                  <a:pt x="1815570" y="5230544"/>
                  <a:pt x="1777083" y="5212267"/>
                </a:cubicBezTo>
                <a:cubicBezTo>
                  <a:pt x="1775439" y="5214216"/>
                  <a:pt x="1773397" y="5216035"/>
                  <a:pt x="1771025" y="5217668"/>
                </a:cubicBezTo>
                <a:cubicBezTo>
                  <a:pt x="1757251" y="5227146"/>
                  <a:pt x="1735528" y="5228402"/>
                  <a:pt x="1722509" y="5220470"/>
                </a:cubicBezTo>
                <a:cubicBezTo>
                  <a:pt x="1691779" y="5208440"/>
                  <a:pt x="1662321" y="5203305"/>
                  <a:pt x="1633941" y="5200774"/>
                </a:cubicBezTo>
                <a:lnTo>
                  <a:pt x="1586145" y="5210184"/>
                </a:lnTo>
                <a:cubicBezTo>
                  <a:pt x="1567948" y="5215416"/>
                  <a:pt x="1545900" y="5226363"/>
                  <a:pt x="1524748" y="5232173"/>
                </a:cubicBezTo>
                <a:cubicBezTo>
                  <a:pt x="1502586" y="5235395"/>
                  <a:pt x="1478013" y="5230993"/>
                  <a:pt x="1459242" y="5245044"/>
                </a:cubicBezTo>
                <a:cubicBezTo>
                  <a:pt x="1421474" y="5260197"/>
                  <a:pt x="1374524" y="5244220"/>
                  <a:pt x="1349457" y="5280705"/>
                </a:cubicBezTo>
                <a:cubicBezTo>
                  <a:pt x="1273276" y="5302389"/>
                  <a:pt x="1121512" y="5336260"/>
                  <a:pt x="1009212" y="5361227"/>
                </a:cubicBezTo>
                <a:cubicBezTo>
                  <a:pt x="939016" y="5373529"/>
                  <a:pt x="866895" y="5370149"/>
                  <a:pt x="808572" y="5377024"/>
                </a:cubicBezTo>
                <a:cubicBezTo>
                  <a:pt x="802823" y="5374184"/>
                  <a:pt x="726016" y="5397963"/>
                  <a:pt x="719549" y="5396991"/>
                </a:cubicBezTo>
                <a:lnTo>
                  <a:pt x="698795" y="5397657"/>
                </a:lnTo>
                <a:cubicBezTo>
                  <a:pt x="689833" y="5401894"/>
                  <a:pt x="683492" y="5402495"/>
                  <a:pt x="678327" y="5401487"/>
                </a:cubicBezTo>
                <a:lnTo>
                  <a:pt x="672784" y="5399085"/>
                </a:lnTo>
                <a:lnTo>
                  <a:pt x="658406" y="5400696"/>
                </a:lnTo>
                <a:lnTo>
                  <a:pt x="629185" y="5401132"/>
                </a:lnTo>
                <a:lnTo>
                  <a:pt x="624558" y="5403782"/>
                </a:lnTo>
                <a:lnTo>
                  <a:pt x="581798" y="5408438"/>
                </a:lnTo>
                <a:cubicBezTo>
                  <a:pt x="581736" y="5408865"/>
                  <a:pt x="581671" y="5409294"/>
                  <a:pt x="581608" y="5409722"/>
                </a:cubicBezTo>
                <a:cubicBezTo>
                  <a:pt x="580204" y="5412704"/>
                  <a:pt x="577331" y="5415106"/>
                  <a:pt x="571299" y="5416358"/>
                </a:cubicBezTo>
                <a:cubicBezTo>
                  <a:pt x="551623" y="5426267"/>
                  <a:pt x="484499" y="5459654"/>
                  <a:pt x="463549" y="5469173"/>
                </a:cubicBezTo>
                <a:cubicBezTo>
                  <a:pt x="453136" y="5470720"/>
                  <a:pt x="449731" y="5472678"/>
                  <a:pt x="445606" y="5473465"/>
                </a:cubicBezTo>
                <a:lnTo>
                  <a:pt x="438799" y="5473893"/>
                </a:lnTo>
                <a:cubicBezTo>
                  <a:pt x="417222" y="5482183"/>
                  <a:pt x="343312" y="5513407"/>
                  <a:pt x="316138" y="5523213"/>
                </a:cubicBezTo>
                <a:cubicBezTo>
                  <a:pt x="298481" y="5517132"/>
                  <a:pt x="286556" y="5522972"/>
                  <a:pt x="275748" y="5532726"/>
                </a:cubicBezTo>
                <a:cubicBezTo>
                  <a:pt x="238274" y="5535784"/>
                  <a:pt x="207076" y="5552679"/>
                  <a:pt x="166496" y="5563424"/>
                </a:cubicBezTo>
                <a:lnTo>
                  <a:pt x="0" y="5629888"/>
                </a:lnTo>
                <a:close/>
              </a:path>
            </a:pathLst>
          </a:custGeom>
        </p:spPr>
      </p:pic>
    </p:spTree>
    <p:extLst>
      <p:ext uri="{BB962C8B-B14F-4D97-AF65-F5344CB8AC3E}">
        <p14:creationId xmlns:p14="http://schemas.microsoft.com/office/powerpoint/2010/main" val="210075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4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348</Words>
  <Application>Microsoft Office PowerPoint</Application>
  <PresentationFormat>Widescreen</PresentationFormat>
  <Paragraphs>14</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Times New Roman</vt:lpstr>
      <vt:lpstr>Office Theme</vt:lpstr>
      <vt:lpstr>Tên dự án: Phát hiện gian lận trong giao dịch theo thời gian thực.  Mục tiêu: xây dựng luồng phát hiện giao dịch gian lận dưới 1 giây.</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Phạm Thị Thắm</dc:creator>
  <cp:lastModifiedBy>Phạm Thị Thắm</cp:lastModifiedBy>
  <cp:revision>9</cp:revision>
  <dcterms:created xsi:type="dcterms:W3CDTF">2026-07-21T04:21:18Z</dcterms:created>
  <dcterms:modified xsi:type="dcterms:W3CDTF">2026-07-21T08:01:55Z</dcterms:modified>
</cp:coreProperties>
</file>